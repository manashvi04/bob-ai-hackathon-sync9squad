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4444"/>
                </a:solidFill>
                <a:latin typeface="Calibri"/>
              </a:rPr>
              <a:t>LOGISTICS &amp; PORTS  ·  TRACK L1  ·  CRITICAL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Calibri"/>
              </a:rPr>
              <a:t>PORTFLOW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6B6D4"/>
                </a:solidFill>
                <a:latin typeface="Calibri"/>
              </a:rPr>
              <a:t>AI Operations Optimiser — Container Congestion Predictor &amp; Port Operations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9CA7B8"/>
                </a:solidFill>
                <a:latin typeface="Calibri"/>
              </a:rPr>
              <a:t>Predict congestion before it happens. Optimise berths, cranes and yard automatically.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9CA7B8"/>
                </a:solidFill>
                <a:latin typeface="Calibri"/>
              </a:rPr>
              <a:t>Reroute vessels with Virtual Arrival. Execute with a live 72-hour operations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>
            <a:solidFill>
              <a:srgbClr val="11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⚓ 225 vessels live-synced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6634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>
            <a:solidFill>
              <a:srgbClr val="11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📡 IBM Bob Copilot onboard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66344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>
            <a:solidFill>
              <a:srgbClr val="11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8B5CF6"/>
                </a:solidFill>
                <a:latin typeface="Calibri"/>
              </a:rPr>
              <a:t>📈 72-h ML congestion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62356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600" b="1">
                <a:solidFill>
                  <a:srgbClr val="0B1220"/>
                </a:solidFill>
                <a:latin typeface="Calibri"/>
              </a:rPr>
              <a:t>TEAM PORTFLOW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687568"/>
            <a:ext cx="7863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7B8"/>
                </a:solidFill>
                <a:latin typeface="Calibri"/>
              </a:rPr>
              <a:t>Manashvi Choksi  ·  Rudra Joshi  ·  Princee Bhingradiya  ·  Krish Sabhaya   —  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B6D4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Ports drown in congestion — decisions come too 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F4444"/>
                </a:solidFill>
                <a:latin typeface="Calibri"/>
              </a:rPr>
              <a:t>100+ 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CA7B8"/>
                </a:solidFill>
                <a:latin typeface="Calibri"/>
              </a:rPr>
              <a:t>queued offshore for weeks in the 2021 LA / Long Beach backlog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737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9E0B"/>
                </a:solidFill>
                <a:latin typeface="Calibri"/>
              </a:rPr>
              <a:t>$10B+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CA7B8"/>
                </a:solidFill>
                <a:latin typeface="Calibri"/>
              </a:rPr>
              <a:t>drained from global supply chains by that single crisis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55448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737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9CA7B8"/>
                </a:solidFill>
                <a:latin typeface="Calibri"/>
              </a:rPr>
              <a:t>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CA7B8"/>
                </a:solidFill>
                <a:latin typeface="Calibri"/>
              </a:rPr>
              <a:t>berth, crane &amp; yard allocation done in spreadsheets, port by 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0156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Why it keeps happening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58768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F4444"/>
                </a:solidFill>
                <a:latin typeface="Calibri"/>
              </a:rPr>
              <a:t>✗  Reactive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858768"/>
            <a:ext cx="39776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7B8"/>
                </a:solidFill>
                <a:latin typeface="Calibri"/>
              </a:rPr>
              <a:t>Hotspots are spotted only after vessels are already queuing at anchorage.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53128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F4444"/>
                </a:solidFill>
                <a:latin typeface="Calibri"/>
              </a:rPr>
              <a:t>✗  Late routing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453128"/>
            <a:ext cx="39776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7B8"/>
                </a:solidFill>
                <a:latin typeface="Calibri"/>
              </a:rPr>
              <a:t>Alternate routing decisions arrive when the window to help has closed.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47488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F4444"/>
                </a:solidFill>
                <a:latin typeface="Calibri"/>
              </a:rPr>
              <a:t>✗  Fragmented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47488"/>
            <a:ext cx="39776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7B8"/>
                </a:solidFill>
                <a:latin typeface="Calibri"/>
              </a:rPr>
              <a:t>Vessel schedules, berth capacity, crane status and yard space live in silos.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41848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F4444"/>
                </a:solidFill>
                <a:latin typeface="Calibri"/>
              </a:rPr>
              <a:t>✗  No forward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641848"/>
            <a:ext cx="39776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7B8"/>
                </a:solidFill>
                <a:latin typeface="Calibri"/>
              </a:rPr>
              <a:t>Shift supervisors lack a data-driven 72-hour execution plan.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200400"/>
            <a:ext cx="4114800" cy="31089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36499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B981"/>
                </a:solidFill>
                <a:latin typeface="Calibri"/>
              </a:rPr>
              <a:t>WHAT CHANGES WITH PORTFLOW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76732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739896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Congestion discovered at anchorage, fuel burned waiting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19709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169663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Hotspots predicted 72 h out; vessels slow-steam just-in-time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462686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599431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Berth conflicts resolved by phone calls and guesswork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5056631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5029199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Auto-optimiser reassigns berths &amp; cranes, zero overlaps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5486399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458967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Supervisors plan shifts from memory &amp; spreadsheets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5916167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888735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AI-generated 72-h plan with per-shift checklists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B6D4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PORTFLOW: one AI command centre for the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3" y="1444752"/>
            <a:ext cx="6671285" cy="3867912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6598133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81160" y="1481328"/>
            <a:ext cx="2377440" cy="3867912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164592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 AI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1488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6B6D4"/>
                </a:solidFill>
                <a:latin typeface="Calibri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4231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ML congestion hotspots 72 h ahead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99008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B981"/>
                </a:solidFill>
                <a:latin typeface="Calibri"/>
              </a:rPr>
              <a:t>OPTIMISE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3264408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Berth, crane &amp; yard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831336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8B5CF6"/>
                </a:solidFill>
                <a:latin typeface="Calibri"/>
              </a:rPr>
              <a:t>REROUTE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4105656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Virtual Arrival + berth swaps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67258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9E0B"/>
                </a:solidFill>
                <a:latin typeface="Calibri"/>
              </a:rP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4946904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72-h shift supervisor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11109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A single live dashboard turns 225 vessel calls, 8 berths, 12 cranes and 18 yard zones into one synchronised,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optimised, forward-looking operating picture — replacing spreadsheets and guesswork.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B6D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How the system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099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6B6D4"/>
                </a:solidFill>
                <a:latin typeface="Calibri"/>
              </a:rPr>
              <a:t>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Vessel schedules &amp; AIS · berth specs · crane telemetry · yard capacity · gate &amp; tides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2240280"/>
            <a:ext cx="384048" cy="320040"/>
          </a:xfrm>
          <a:prstGeom prst="rightArrow">
            <a:avLst/>
          </a:prstGeom>
          <a:solidFill>
            <a:srgbClr val="9C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9312" y="160020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7099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8B5CF6"/>
                </a:solidFill>
                <a:latin typeface="Calibri"/>
              </a:rPr>
              <a:t>AI PREDICTION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205740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Scikit-learn random-forest regressor forecasts berth, crane, yard &amp; congestion 72 h out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91072" y="2240280"/>
            <a:ext cx="384048" cy="320040"/>
          </a:xfrm>
          <a:prstGeom prst="rightArrow">
            <a:avLst/>
          </a:prstGeom>
          <a:solidFill>
            <a:srgbClr val="9C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9984" y="160020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17099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B981"/>
                </a:solidFill>
                <a:latin typeface="Calibri"/>
              </a:rPr>
              <a:t>OPTIMISATION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205740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Auto-optimiser resolves berth conflicts, balances yard zones, sequences crane gangs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81744" y="2240280"/>
            <a:ext cx="384048" cy="320040"/>
          </a:xfrm>
          <a:prstGeom prst="rightArrow">
            <a:avLst/>
          </a:prstGeom>
          <a:solidFill>
            <a:srgbClr val="9C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20656" y="160020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6" y="170992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9E0B"/>
                </a:solidFill>
                <a:latin typeface="Calibri"/>
              </a:rP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2057400"/>
            <a:ext cx="1554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CA7B8"/>
                </a:solidFill>
                <a:latin typeface="Calibri"/>
              </a:rPr>
              <a:t>Alerts · rerouting · 72-h plan · supervisor checklist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29000"/>
            <a:ext cx="11109960" cy="777240"/>
          </a:xfrm>
          <a:prstGeom prst="roundRect">
            <a:avLst>
              <a:gd name="adj" fmla="val 8000"/>
            </a:avLst>
          </a:prstGeom>
          <a:solidFill>
            <a:srgbClr val="0E2A2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🤖 IBM Bob Copilot  —  conversational Port Operations AI: explains every recommendation, drafts Virtual Arrival notices, and lets supervisors execute fixes by chat.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CA7B8"/>
                </a:solidFill>
                <a:latin typeface="Calibri"/>
              </a:rPr>
              <a:t>SIX LIVE MODULES, ONE SYNCHRONISED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560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6B6D4"/>
                </a:solidFill>
                <a:latin typeface="Calibr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132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7B8"/>
                </a:solidFill>
                <a:latin typeface="Calibri"/>
              </a:rPr>
              <a:t>live port pulse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18588" y="484632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0028" y="49560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6B6D4"/>
                </a:solidFill>
                <a:latin typeface="Calibri"/>
              </a:rPr>
              <a:t>Vessels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0028" y="54132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7B8"/>
                </a:solidFill>
                <a:latin typeface="Calibri"/>
              </a:rPr>
              <a:t>225 calls tracked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88536" y="484632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5" y="49560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6B6D4"/>
                </a:solidFill>
                <a:latin typeface="Calibri"/>
              </a:rPr>
              <a:t>Congestion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5" y="54132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7B8"/>
                </a:solidFill>
                <a:latin typeface="Calibri"/>
              </a:rPr>
              <a:t>ML forecast + simulator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8483" y="484632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9923" y="49560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6B6D4"/>
                </a:solidFill>
                <a:latin typeface="Calibri"/>
              </a:rPr>
              <a:t>Berths &amp; Cranes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9923" y="54132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7B8"/>
                </a:solidFill>
                <a:latin typeface="Calibri"/>
              </a:rPr>
              <a:t>Gantt + auto-optimise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1" y="484632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1" y="49560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6B6D4"/>
                </a:solidFill>
                <a:latin typeface="Calibri"/>
              </a:rPr>
              <a:t>Yard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54132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7B8"/>
                </a:solidFill>
                <a:latin typeface="Calibri"/>
              </a:rPr>
              <a:t>18 zones, dwell tracking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98380" y="484632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89819" y="49560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6B6D4"/>
                </a:solidFill>
                <a:latin typeface="Calibri"/>
              </a:rPr>
              <a:t>Routing + 72-h Plan + Alerts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9819" y="5413248"/>
            <a:ext cx="1581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CA7B8"/>
                </a:solidFill>
                <a:latin typeface="Calibri"/>
              </a:rPr>
              <a:t>execute &amp;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B6D4"/>
                </a:solidFill>
                <a:latin typeface="Calibri"/>
              </a:rPr>
              <a:t>DEMO — KEY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Virtual Arrival &amp; berth conflict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3" y="1444752"/>
            <a:ext cx="5852459" cy="3456432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5779307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01384" y="1444752"/>
            <a:ext cx="5193792" cy="3013077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(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81328"/>
            <a:ext cx="5120640" cy="2939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120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Instead of racing to anchorage and burning fuel while idle, PORTFLOW computes the exact just-in-time speed.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7B8"/>
                </a:solidFill>
                <a:latin typeface="Calibri"/>
              </a:rPr>
              <a:t>Cosco Shipping Universe: slow-steam 19.5 → 16.2 kn  →  −3.5 h delay, 18.4 MT bunker saved, 57.6 t CO₂ avoided, $11,960 saved ·  CMA CGM Palais Royal: berth swap B3 → B2  →  −4 h delay.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IBM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Powered by IBM Bob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B981"/>
                </a:solidFill>
                <a:latin typeface="Calibri"/>
              </a:rPr>
              <a:t>IBM Bob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5029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7B8"/>
                </a:solidFill>
                <a:latin typeface="Calibri"/>
              </a:rPr>
              <a:t>Embedded Port Operations AI assistant in every module — explains forecasts and recommends actions in plain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6479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6B6D4"/>
                </a:solidFill>
                <a:latin typeface="Calibri"/>
              </a:rPr>
              <a:t>Ask IBM Bob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21992"/>
            <a:ext cx="5029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7B8"/>
                </a:solidFill>
                <a:latin typeface="Calibri"/>
              </a:rPr>
              <a:t>Top-bar copilot gives supervisors instant natural-language answers on vessels, berths and congestion without leaving the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3075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8B5CF6"/>
                </a:solidFill>
                <a:latin typeface="Calibri"/>
              </a:rPr>
              <a:t>AI Decision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87952"/>
            <a:ext cx="5029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7B8"/>
                </a:solidFill>
                <a:latin typeface="Calibri"/>
              </a:rPr>
              <a:t>Bob-ranked recommendations (yard rebalancing, berth swaps, crane reassignments) with one-click Execute — human-in-the-loop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73075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9E0B"/>
                </a:solidFill>
                <a:latin typeface="Calibri"/>
              </a:rPr>
              <a:t>IBM Cloud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87952"/>
            <a:ext cx="5029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7B8"/>
                </a:solidFill>
                <a:latin typeface="Calibri"/>
              </a:rPr>
              <a:t>Containerised microservices with live sync of 225 vessels; auto-optimiser runs synchronised with zero overlapping slots.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109960" cy="822960"/>
          </a:xfrm>
          <a:prstGeom prst="roundRect">
            <a:avLst>
              <a:gd name="adj" fmla="val 8000"/>
            </a:avLst>
          </a:prstGeom>
          <a:solidFill>
            <a:srgbClr val="0E2A26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Design principle: Bob doesn't replace the supervisor — it surfaces the right decision at the right moment, and the human executes.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Calibri"/>
              </a:rPr>
              <a:t>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From reactive firefighting to proactive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9E0B"/>
                </a:solidFill>
                <a:latin typeface="Calibri"/>
              </a:rPr>
              <a:t>$40,950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7B8"/>
                </a:solidFill>
                <a:latin typeface="Calibri"/>
              </a:rPr>
              <a:t>estimated operational savings from active routing strategies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60020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7373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0B981"/>
                </a:solidFill>
                <a:latin typeface="Calibri"/>
              </a:rPr>
              <a:t>63 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3774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7B8"/>
                </a:solidFill>
                <a:latin typeface="Calibri"/>
              </a:rPr>
              <a:t>bunker fuel saved via Virtual Arrival speed optimisation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0020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7373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6B6D4"/>
                </a:solidFill>
                <a:latin typeface="Calibri"/>
              </a:rPr>
              <a:t>197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3774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7B8"/>
                </a:solidFill>
                <a:latin typeface="Calibri"/>
              </a:rPr>
              <a:t>CO₂ emissions mitigated — IMO decarbonisation aligned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11879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F4444"/>
                </a:solidFill>
                <a:latin typeface="Calibri"/>
              </a:rPr>
              <a:t>75.1/100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59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7B8"/>
                </a:solidFill>
                <a:latin typeface="Calibri"/>
              </a:rPr>
              <a:t>peak congestion index predicted 24 h in advance, not discovered at the quay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3474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3611879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8B5CF6"/>
                </a:solidFill>
                <a:latin typeface="Calibri"/>
              </a:rPr>
              <a:t>−3.5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251959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7B8"/>
                </a:solidFill>
                <a:latin typeface="Calibri"/>
              </a:rPr>
              <a:t>delay mitigated on a single call (Cosco Shipping Universe)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474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11879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4251959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7B8"/>
                </a:solidFill>
                <a:latin typeface="Calibri"/>
              </a:rPr>
              <a:t>overlapping berth slots after auto-optimisation — “Synchronised”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2A1A0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9612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Success = congestion is a forecast, not a surprise. Every hotspot ships with a root-cause analysis and a recommended fix the supervisor can execute in one click.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B6D4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Crew behind PORTFLOW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0B1220"/>
                </a:solidFill>
                <a:latin typeface="Calibri"/>
              </a:rPr>
              <a:t>⚓  TEAM PORTFLOW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0744" y="1920240"/>
            <a:ext cx="1005840" cy="100584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0744" y="210312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6B6D4"/>
                </a:solidFill>
                <a:latin typeface="Calibri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304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Manashvi Choksi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30428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A7B8"/>
                </a:solidFill>
                <a:latin typeface="Calibri"/>
              </a:rPr>
              <a:t>Team Lead · Product &amp; Port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9164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7096" y="1920240"/>
            <a:ext cx="1005840" cy="100584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210312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8B5CF6"/>
                </a:solidFill>
                <a:latin typeface="Calibri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0"/>
            <a:ext cx="2304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Rudra Joshi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520440"/>
            <a:ext cx="230428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A7B8"/>
                </a:solidFill>
                <a:latin typeface="Calibri"/>
              </a:rPr>
              <a:t>AI / ML — congestion forecasting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9164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13448" y="1920240"/>
            <a:ext cx="1005840" cy="100584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210312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0B981"/>
                </a:solidFill>
                <a:latin typeface="Calibri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108960"/>
            <a:ext cx="2304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Princee Bhingradiya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520440"/>
            <a:ext cx="230428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A7B8"/>
                </a:solidFill>
                <a:latin typeface="Calibri"/>
              </a:rPr>
              <a:t>Optimisation — berth, crane &amp; yard allocator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69164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29800" y="1920240"/>
            <a:ext cx="1005840" cy="100584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210312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59E0B"/>
                </a:solidFill>
                <a:latin typeface="Calibri"/>
              </a:rPr>
              <a:t>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108960"/>
            <a:ext cx="2304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Krish Sabhaya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520440"/>
            <a:ext cx="230428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A7B8"/>
                </a:solidFill>
                <a:latin typeface="Calibri"/>
              </a:rPr>
              <a:t>Full-stack — dashboard &amp; IBM Bob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11109960" cy="160020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2700">
            <a:solidFill>
              <a:srgbClr val="25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463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What we learned &amp; what's 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578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CA7B8"/>
                </a:solidFill>
                <a:latin typeface="Calibri"/>
              </a:rPr>
              <a:t>Learned: operators trust AI when every recommendation carries its rationale and a one-click execution path.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9CA7B8"/>
                </a:solidFill>
                <a:latin typeface="Calibri"/>
              </a:rPr>
              <a:t>Next: multi-terminal federation, tidal-window optimisation, and predictive equipment-maintenance alerts fed back into Bob.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